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3474720" cy="7315200"/>
          </a:xfrm>
          <a:prstGeom prst="round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</a:p>
        </p:txBody>
      </p:sp>
      <p:sp>
        <p:nvSpPr>
          <p:cNvPr id="3" name="Rounded Rectangle 2"/>
          <p:cNvSpPr/>
          <p:nvPr/>
        </p:nvSpPr>
        <p:spPr>
          <a:xfrm>
            <a:off x="4114800" y="457200"/>
            <a:ext cx="6400800" cy="7315200"/>
          </a:xfrm>
          <a:prstGeom prst="roundRect">
            <a:avLst/>
          </a:prstGeom>
          <a:solidFill>
            <a:srgbClr val="E9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10698480" y="457200"/>
            <a:ext cx="3474720" cy="7315200"/>
          </a:xfrm>
          <a:prstGeom prst="roundRect">
            <a:avLst/>
          </a:prstGeom>
          <a:solidFill>
            <a:srgbClr val="FB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457200" y="548640"/>
            <a:ext cx="347472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输入与特征编码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548640"/>
            <a:ext cx="6400800" cy="7315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关联建模：E1 / E3 二选一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0" y="548640"/>
            <a:ext cx="3474720" cy="7315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评分与评价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657600"/>
            <a:ext cx="1371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输入窗口</a:t>
            </a:r>
            <a:br/>
            <a:r>
              <a:t>X: W×C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3429000"/>
            <a:ext cx="12801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线性投影与位置编码</a:t>
            </a:r>
            <a:br/>
            <a:r>
              <a:t>Transformer编码器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86000"/>
            <a:ext cx="20116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序列关联 A_series</a:t>
            </a:r>
            <a:br/>
            <a:r>
              <a:t>多头自注意力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20116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重构序列 x̂</a:t>
            </a:r>
            <a:br/>
            <a:r>
              <a:t>逐通道重构误差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389120"/>
            <a:ext cx="5486400" cy="3200400"/>
          </a:xfrm>
          <a:prstGeom prst="roundRect">
            <a:avLst/>
          </a:prstGeom>
          <a:solidFill>
            <a:srgbClr val="EB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4754880" y="4754880"/>
            <a:ext cx="25603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E1：高斯时间先验</a:t>
            </a:r>
            <a:br/>
            <a:r>
              <a:t>P_gauss</a:t>
            </a:r>
            <a:br/>
            <a:r>
              <a:t>时间距离 + 核宽度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6217920"/>
            <a:ext cx="25603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E3：多尺度差分 DGR</a:t>
            </a:r>
            <a:br/>
            <a:r>
              <a:t>先验 P_dgr</a:t>
            </a:r>
            <a:br/>
            <a:r>
              <a:t>本文核心配置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5394960"/>
            <a:ext cx="1097280" cy="6400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SWITCH</a:t>
            </a:r>
            <a:br/>
            <a:r>
              <a:t>二选一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5486400"/>
            <a:ext cx="2103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受控先验 P_st</a:t>
            </a:r>
            <a:br/>
            <a:r>
              <a:t>E1: P_gauss</a:t>
            </a:r>
            <a:br/>
            <a:r>
              <a:t>E3: P_dgr (替换)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36118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3657600"/>
            <a:ext cx="20116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关联差异</a:t>
            </a:r>
            <a:br/>
            <a:r>
              <a:t>双向 KL 散度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0" y="2286000"/>
            <a:ext cx="20116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异常分数 s_i</a:t>
            </a:r>
            <a:br/>
            <a:r>
              <a:t>combined / rec_mean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704320" y="3657600"/>
            <a:ext cx="12801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输入窗口, 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5029200"/>
            <a:ext cx="13716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公开数据集</a:t>
            </a:r>
            <a:br/>
            <a:r>
              <a:t>逐点评价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618720" y="5029200"/>
            <a:ext cx="13716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ST330IR001</a:t>
            </a:r>
            <a:br/>
            <a:r>
              <a:t>56步均值→周期评价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795760" y="4389120"/>
            <a:ext cx="9144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逐点评价</a:t>
            </a:r>
          </a:p>
        </p:txBody>
      </p:sp>
      <p:cxnSp>
        <p:nvCxnSpPr>
          <p:cNvPr id="24" name="Connector 23"/>
          <p:cNvCxnSpPr>
            <a:stCxn id="8" idx="3"/>
            <a:endCxn id="9" idx="1"/>
          </p:cNvCxnSpPr>
          <p:nvPr/>
        </p:nvCxnSpPr>
        <p:spPr>
          <a:xfrm flipV="1">
            <a:off x="2286000" y="4114800"/>
            <a:ext cx="27432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9" idx="0"/>
            <a:endCxn id="10" idx="1"/>
          </p:cNvCxnSpPr>
          <p:nvPr/>
        </p:nvCxnSpPr>
        <p:spPr>
          <a:xfrm flipV="1">
            <a:off x="3200400" y="2743200"/>
            <a:ext cx="1371600" cy="68580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9" idx="2"/>
            <a:endCxn id="11" idx="1"/>
          </p:cNvCxnSpPr>
          <p:nvPr/>
        </p:nvCxnSpPr>
        <p:spPr>
          <a:xfrm flipV="1">
            <a:off x="3200400" y="2743200"/>
            <a:ext cx="4846320" cy="205740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9" idx="2"/>
            <a:endCxn id="13" idx="1"/>
          </p:cNvCxnSpPr>
          <p:nvPr/>
        </p:nvCxnSpPr>
        <p:spPr>
          <a:xfrm>
            <a:off x="3200400" y="4800600"/>
            <a:ext cx="1554480" cy="41148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9" idx="2"/>
            <a:endCxn id="14" idx="1"/>
          </p:cNvCxnSpPr>
          <p:nvPr/>
        </p:nvCxnSpPr>
        <p:spPr>
          <a:xfrm>
            <a:off x="3200400" y="4800600"/>
            <a:ext cx="1554480" cy="187452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3" idx="3"/>
            <a:endCxn id="16" idx="1"/>
          </p:cNvCxnSpPr>
          <p:nvPr/>
        </p:nvCxnSpPr>
        <p:spPr>
          <a:xfrm>
            <a:off x="7315200" y="5212080"/>
            <a:ext cx="457200" cy="73152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14" idx="3"/>
            <a:endCxn id="16" idx="1"/>
          </p:cNvCxnSpPr>
          <p:nvPr/>
        </p:nvCxnSpPr>
        <p:spPr>
          <a:xfrm flipV="1">
            <a:off x="7315200" y="5943600"/>
            <a:ext cx="457200" cy="73152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16" idx="0"/>
            <a:endCxn id="17" idx="2"/>
          </p:cNvCxnSpPr>
          <p:nvPr/>
        </p:nvCxnSpPr>
        <p:spPr>
          <a:xfrm flipH="1" flipV="1">
            <a:off x="7086600" y="4251960"/>
            <a:ext cx="1737360" cy="123444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10" idx="2"/>
            <a:endCxn id="17" idx="0"/>
          </p:cNvCxnSpPr>
          <p:nvPr/>
        </p:nvCxnSpPr>
        <p:spPr>
          <a:xfrm>
            <a:off x="5577840" y="3200400"/>
            <a:ext cx="1508760" cy="41148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17" idx="3"/>
            <a:endCxn id="18" idx="1"/>
          </p:cNvCxnSpPr>
          <p:nvPr/>
        </p:nvCxnSpPr>
        <p:spPr>
          <a:xfrm flipH="1">
            <a:off x="7315200" y="3931920"/>
            <a:ext cx="91440" cy="457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18" idx="3"/>
            <a:endCxn id="19" idx="1"/>
          </p:cNvCxnSpPr>
          <p:nvPr/>
        </p:nvCxnSpPr>
        <p:spPr>
          <a:xfrm flipV="1">
            <a:off x="9326880" y="2743200"/>
            <a:ext cx="1645920" cy="123444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11" idx="3"/>
            <a:endCxn id="19" idx="1"/>
          </p:cNvCxnSpPr>
          <p:nvPr/>
        </p:nvCxnSpPr>
        <p:spPr>
          <a:xfrm flipV="1">
            <a:off x="10058400" y="2743200"/>
            <a:ext cx="914400" cy="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8" idx="2"/>
            <a:endCxn id="20" idx="1"/>
          </p:cNvCxnSpPr>
          <p:nvPr/>
        </p:nvCxnSpPr>
        <p:spPr>
          <a:xfrm flipV="1">
            <a:off x="1600200" y="3977640"/>
            <a:ext cx="10104120" cy="59436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19" idx="2"/>
            <a:endCxn id="23" idx="0"/>
          </p:cNvCxnSpPr>
          <p:nvPr/>
        </p:nvCxnSpPr>
        <p:spPr>
          <a:xfrm>
            <a:off x="11978640" y="3200400"/>
            <a:ext cx="274320" cy="118872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23" idx="2"/>
            <a:endCxn id="21" idx="0"/>
          </p:cNvCxnSpPr>
          <p:nvPr/>
        </p:nvCxnSpPr>
        <p:spPr>
          <a:xfrm flipH="1">
            <a:off x="11658600" y="4846320"/>
            <a:ext cx="594360" cy="18288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23" idx="2"/>
            <a:endCxn id="22" idx="0"/>
          </p:cNvCxnSpPr>
          <p:nvPr/>
        </p:nvCxnSpPr>
        <p:spPr>
          <a:xfrm>
            <a:off x="12252960" y="4846320"/>
            <a:ext cx="1051560" cy="18288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